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D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 i="0">
                <a:solidFill>
                  <a:srgbClr val="F4EFE6"/>
                </a:solidFill>
                <a:latin typeface="Georgia"/>
              </a:rPr>
              <a:t>STONECUTTER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8346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878E95"/>
                </a:solidFill>
                <a:latin typeface="Georgia"/>
              </a:rPr>
              <a:t>NYC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290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DA1A5"/>
                </a:solidFill>
                <a:latin typeface="Calibri"/>
              </a:rPr>
              <a:t>Amazon Growth Partners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6707D"/>
                </a:solidFill>
                <a:latin typeface="Calibri"/>
              </a:rPr>
              <a:t>Confidential —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707D"/>
                </a:solidFill>
                <a:latin typeface="Georgia"/>
              </a:rPr>
              <a:t>STONECUTTER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8695" y="64465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C6775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B8D"/>
                </a:solidFill>
                <a:latin typeface="Calibri"/>
              </a:rPr>
              <a:t>WHO WE 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1B2D45"/>
                </a:solidFill>
                <a:latin typeface="Georgia"/>
              </a:rPr>
              <a:t>Every client we've ever had has come through referrals.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2004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6707D"/>
                </a:solidFill>
                <a:latin typeface="Calibri"/>
              </a:rPr>
              <a:t>We've never run an ad for ourselves. Never cold-called a prospect. Every brand we work with found us through someone they trust. That's not a marketing strategy — it's what happens when you do exceptional work, consistently.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3716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1B2D45"/>
                </a:solidFill>
                <a:latin typeface="Georgia"/>
              </a:rPr>
              <a:t>$220M+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21488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B8D"/>
                </a:solidFill>
                <a:latin typeface="Calibri"/>
              </a:rPr>
              <a:t>Revenue managed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15400" y="13716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1B2D45"/>
                </a:solidFill>
                <a:latin typeface="Georgia"/>
              </a:rPr>
              <a:t>$20M+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15400" y="21488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B8D"/>
                </a:solidFill>
                <a:latin typeface="Calibri"/>
              </a:rPr>
              <a:t>Annual ad spend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28346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1B2D45"/>
                </a:solidFill>
                <a:latin typeface="Georgia"/>
              </a:rPr>
              <a:t>35+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3611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B8D"/>
                </a:solidFill>
                <a:latin typeface="Calibri"/>
              </a:rPr>
              <a:t>Team members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28346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1B2D45"/>
                </a:solidFill>
                <a:latin typeface="Georgia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3611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B8D"/>
                </a:solidFill>
                <a:latin typeface="Calibri"/>
              </a:rPr>
              <a:t>Clients from referral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2B4B5"/>
                </a:solidFill>
                <a:latin typeface="Georgia"/>
              </a:rPr>
              <a:t>STONECUTTER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8695" y="64465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DBEB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D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78E95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0" i="0">
                <a:solidFill>
                  <a:srgbClr val="F4EFE6"/>
                </a:solidFill>
                <a:latin typeface="Georgia"/>
              </a:rPr>
              <a:t>The agency model is broken.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74320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DBEBD"/>
                </a:solidFill>
                <a:latin typeface="Calibri"/>
              </a:rPr>
              <a:t>Most agencies stack clients until quality drops. They sell you a senior team in the pitch and hand you off to juniors after the ink dries. They optimize for their revenue, not yours.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1480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DBEBD"/>
                </a:solidFill>
                <a:latin typeface="Calibri"/>
              </a:rPr>
              <a:t>We built Stonecutter to be different. Boutique by design, selective about who we work with, and structured so that our success is tied directly to yours.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707D"/>
                </a:solidFill>
                <a:latin typeface="Georgia"/>
              </a:rPr>
              <a:t>STONECUTTER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8695" y="64465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C6775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55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1">
                <a:solidFill>
                  <a:srgbClr val="F4EFE6"/>
                </a:solidFill>
                <a:latin typeface="Georgia"/>
              </a:rPr>
              <a:t>Here’s what we actually do.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79076"/>
                </a:solidFill>
                <a:latin typeface="Georgia"/>
              </a:rPr>
              <a:t>STONECUTTER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8695" y="64465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E896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B8D"/>
                </a:solidFill>
                <a:latin typeface="Calibri"/>
              </a:rPr>
              <a:t>FULL ACCOUNT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1B2D45"/>
                </a:solidFill>
                <a:latin typeface="Georgia"/>
              </a:rPr>
              <a:t>We run your Amazon business like it’s ours.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286000"/>
            <a:ext cx="5120640" cy="1645920"/>
          </a:xfrm>
          <a:prstGeom prst="rect">
            <a:avLst/>
          </a:prstGeom>
          <a:solidFill>
            <a:srgbClr val="F0EBE2"/>
          </a:solidFill>
          <a:ln w="6350">
            <a:solidFill>
              <a:srgbClr val="D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4231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B2D45"/>
                </a:solidFill>
                <a:latin typeface="Georgia"/>
              </a:rPr>
              <a:t>Account setup &amp; catalog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8036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707D"/>
                </a:solidFill>
                <a:latin typeface="Calibri"/>
              </a:rPr>
              <a:t>Brand registration, account configuration, tax setup, product data audits, listing creation, and a dedicated account manager from day one.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0760" y="2286000"/>
            <a:ext cx="5120640" cy="1645920"/>
          </a:xfrm>
          <a:prstGeom prst="rect">
            <a:avLst/>
          </a:prstGeom>
          <a:solidFill>
            <a:srgbClr val="F0EBE2"/>
          </a:solidFill>
          <a:ln w="6350">
            <a:solidFill>
              <a:srgbClr val="D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24231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B2D45"/>
                </a:solidFill>
                <a:latin typeface="Georgia"/>
              </a:rPr>
              <a:t>Listing optimization &amp; content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88036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707D"/>
                </a:solidFill>
                <a:latin typeface="Calibri"/>
              </a:rPr>
              <a:t>Keyword research, conversion-focused copy, A+ content, and continuous performance testing to maximize organic ranking.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160520"/>
            <a:ext cx="5120640" cy="1645920"/>
          </a:xfrm>
          <a:prstGeom prst="rect">
            <a:avLst/>
          </a:prstGeom>
          <a:solidFill>
            <a:srgbClr val="F0EBE2"/>
          </a:solidFill>
          <a:ln w="6350">
            <a:solidFill>
              <a:srgbClr val="D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2976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B2D45"/>
                </a:solidFill>
                <a:latin typeface="Georgia"/>
              </a:rPr>
              <a:t>Advertising &amp; PPC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75488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707D"/>
                </a:solidFill>
                <a:latin typeface="Calibri"/>
              </a:rPr>
              <a:t>Campaign architecture, bid management, budget planning, and transparent performance reporting.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4160520"/>
            <a:ext cx="5120640" cy="1645920"/>
          </a:xfrm>
          <a:prstGeom prst="rect">
            <a:avLst/>
          </a:prstGeom>
          <a:solidFill>
            <a:srgbClr val="F0EBE2"/>
          </a:solidFill>
          <a:ln w="6350">
            <a:solidFill>
              <a:srgbClr val="D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42976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B2D45"/>
                </a:solidFill>
                <a:latin typeface="Georgia"/>
              </a:rPr>
              <a:t>Inventory, logistics &amp; storefront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75488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707D"/>
                </a:solidFill>
                <a:latin typeface="Calibri"/>
              </a:rPr>
              <a:t>Demand forecasting, replenishment planning, 3PL coordination, FBA compliance, and custom storefront design.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2B4B5"/>
                </a:solidFill>
                <a:latin typeface="Georgia"/>
              </a:rPr>
              <a:t>STONECUTTER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8695" y="64465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DBEB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D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78E95"/>
                </a:solidFill>
                <a:latin typeface="Calibri"/>
              </a:rPr>
              <a:t>GETTING STARTED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F4EFE6"/>
                </a:solidFill>
                <a:latin typeface="Georgia"/>
              </a:rPr>
              <a:t>How we bring a brand onboard.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286000"/>
            <a:ext cx="5120640" cy="1828800"/>
          </a:xfrm>
          <a:prstGeom prst="rect">
            <a:avLst/>
          </a:prstGeom>
          <a:solidFill>
            <a:srgbClr val="28384E"/>
          </a:solidFill>
          <a:ln w="6350">
            <a:solidFill>
              <a:srgbClr val="2C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3774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424F61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803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4EFE6"/>
                </a:solidFill>
                <a:latin typeface="Georgia"/>
              </a:rPr>
              <a:t>Discovery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337560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ABAD"/>
                </a:solidFill>
                <a:latin typeface="Calibri"/>
              </a:rPr>
              <a:t>We learn your brand, your goals, and your current Amazon presence. No templates — every engagement starts with understanding.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2286000"/>
            <a:ext cx="5120640" cy="1828800"/>
          </a:xfrm>
          <a:prstGeom prst="rect">
            <a:avLst/>
          </a:prstGeom>
          <a:solidFill>
            <a:srgbClr val="28384E"/>
          </a:solidFill>
          <a:ln w="6350">
            <a:solidFill>
              <a:srgbClr val="2C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23774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424F61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8803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4EFE6"/>
                </a:solidFill>
                <a:latin typeface="Georgia"/>
              </a:rPr>
              <a:t>Audit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3337560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ABAD"/>
                </a:solidFill>
                <a:latin typeface="Calibri"/>
              </a:rPr>
              <a:t>A deep dive into your catalog, listings, advertising, and competitive landscape. We find what's working and what's not.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4343400"/>
            <a:ext cx="5120640" cy="1828800"/>
          </a:xfrm>
          <a:prstGeom prst="rect">
            <a:avLst/>
          </a:prstGeom>
          <a:solidFill>
            <a:srgbClr val="28384E"/>
          </a:solidFill>
          <a:ln w="6350">
            <a:solidFill>
              <a:srgbClr val="2C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4348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424F61"/>
                </a:solidFill>
                <a:latin typeface="Georgia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9377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4EFE6"/>
                </a:solidFill>
                <a:latin typeface="Georgia"/>
              </a:rPr>
              <a:t>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394960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ABAD"/>
                </a:solidFill>
                <a:latin typeface="Calibri"/>
              </a:rPr>
              <a:t>We build a custom roadmap with clear milestones, realistic timelines, and measurable KPIs tied to your business goals.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4343400"/>
            <a:ext cx="5120640" cy="1828800"/>
          </a:xfrm>
          <a:prstGeom prst="rect">
            <a:avLst/>
          </a:prstGeom>
          <a:solidFill>
            <a:srgbClr val="28384E"/>
          </a:solidFill>
          <a:ln w="6350">
            <a:solidFill>
              <a:srgbClr val="2C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44348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424F61"/>
                </a:solidFill>
                <a:latin typeface="Georgia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49377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4EFE6"/>
                </a:solidFill>
                <a:latin typeface="Georgia"/>
              </a:rPr>
              <a:t>Execution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5394960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ABAD"/>
                </a:solidFill>
                <a:latin typeface="Calibri"/>
              </a:rPr>
              <a:t>Hands on keyboard. We implement, optimize, report, and iterate. You get a dedicated team, not a shared resource pool.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707D"/>
                </a:solidFill>
                <a:latin typeface="Georgia"/>
              </a:rPr>
              <a:t>STONECUTTER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48695" y="64465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C6775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B8D"/>
                </a:solidFill>
                <a:latin typeface="Calibri"/>
              </a:rPr>
              <a:t>LISTING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1B2D45"/>
                </a:solidFill>
                <a:latin typeface="Georgia"/>
              </a:rPr>
              <a:t>We make your products impossible to scroll past.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286000"/>
            <a:ext cx="3454298" cy="2926080"/>
          </a:xfrm>
          <a:prstGeom prst="rect">
            <a:avLst/>
          </a:prstGeom>
          <a:solidFill>
            <a:srgbClr val="F0EBE2"/>
          </a:solidFill>
          <a:ln w="6350">
            <a:solidFill>
              <a:srgbClr val="D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468880"/>
            <a:ext cx="308853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B2D45"/>
                </a:solidFill>
                <a:latin typeface="Georgia"/>
              </a:rPr>
              <a:t>Keyword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108960"/>
            <a:ext cx="3088538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C6775"/>
                </a:solidFill>
                <a:latin typeface="Calibri"/>
              </a:rPr>
              <a:t>We analyze the algorithm, study competitor listings, and identify the highest-value keywords for your products. Not guesswork — data.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68698" y="2286000"/>
            <a:ext cx="3454298" cy="2926080"/>
          </a:xfrm>
          <a:prstGeom prst="rect">
            <a:avLst/>
          </a:prstGeom>
          <a:solidFill>
            <a:srgbClr val="F0EBE2"/>
          </a:solidFill>
          <a:ln w="6350">
            <a:solidFill>
              <a:srgbClr val="D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1578" y="2468880"/>
            <a:ext cx="308853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B2D45"/>
                </a:solidFill>
                <a:latin typeface="Georgia"/>
              </a:rPr>
              <a:t>Conversion copy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1578" y="3108960"/>
            <a:ext cx="3088538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C6775"/>
                </a:solidFill>
                <a:latin typeface="Calibri"/>
              </a:rPr>
              <a:t>Amazon-optimized product copy that drives sales and improves organic ranking while maintaining your brand voice. Every word earns its place.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51596" y="2286000"/>
            <a:ext cx="3454298" cy="2926080"/>
          </a:xfrm>
          <a:prstGeom prst="rect">
            <a:avLst/>
          </a:prstGeom>
          <a:solidFill>
            <a:srgbClr val="F0EBE2"/>
          </a:solidFill>
          <a:ln w="6350">
            <a:solidFill>
              <a:srgbClr val="D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34476" y="2468880"/>
            <a:ext cx="308853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B2D45"/>
                </a:solidFill>
                <a:latin typeface="Georgia"/>
              </a:rPr>
              <a:t>Performance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34476" y="3108960"/>
            <a:ext cx="3088538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C6775"/>
                </a:solidFill>
                <a:latin typeface="Calibri"/>
              </a:rPr>
              <a:t>We measure conversion rates, track keyword rankings, and continuously test and refine listings to maximize performance over time.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2B4B5"/>
                </a:solidFill>
                <a:latin typeface="Georgia"/>
              </a:rPr>
              <a:t>STONECUTTER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8695" y="64465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DBEB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D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78E95"/>
                </a:solidFill>
                <a:latin typeface="Calibri"/>
              </a:rPr>
              <a:t>ADVERTISING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F4EFE6"/>
                </a:solidFill>
                <a:latin typeface="Georgia"/>
              </a:rPr>
              <a:t>Your ad spend, treated like our own money.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286000"/>
            <a:ext cx="3454298" cy="2926080"/>
          </a:xfrm>
          <a:prstGeom prst="rect">
            <a:avLst/>
          </a:prstGeom>
          <a:solidFill>
            <a:srgbClr val="28384E"/>
          </a:solidFill>
          <a:ln w="6350">
            <a:solidFill>
              <a:srgbClr val="2C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468880"/>
            <a:ext cx="308853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4EFE6"/>
                </a:solidFill>
                <a:latin typeface="Georgia"/>
              </a:rPr>
              <a:t>Campaign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108960"/>
            <a:ext cx="3088538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2B4B5"/>
                </a:solidFill>
                <a:latin typeface="Calibri"/>
              </a:rPr>
              <a:t>We build structured campaign frameworks that scale efficiently — from Sponsored Products to DSP — without wasting spend on low-intent traffic.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68698" y="2286000"/>
            <a:ext cx="3454298" cy="2926080"/>
          </a:xfrm>
          <a:prstGeom prst="rect">
            <a:avLst/>
          </a:prstGeom>
          <a:solidFill>
            <a:srgbClr val="28384E"/>
          </a:solidFill>
          <a:ln w="6350">
            <a:solidFill>
              <a:srgbClr val="2C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1578" y="2468880"/>
            <a:ext cx="308853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4EFE6"/>
                </a:solidFill>
                <a:latin typeface="Georgia"/>
              </a:rPr>
              <a:t>Budget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1578" y="3108960"/>
            <a:ext cx="3088538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2B4B5"/>
                </a:solidFill>
                <a:latin typeface="Calibri"/>
              </a:rPr>
              <a:t>We work with your team to set realistic budgets, forecast returns, and allocate spend where it actually moves the needle.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51596" y="2286000"/>
            <a:ext cx="3454298" cy="2926080"/>
          </a:xfrm>
          <a:prstGeom prst="rect">
            <a:avLst/>
          </a:prstGeom>
          <a:solidFill>
            <a:srgbClr val="28384E"/>
          </a:solidFill>
          <a:ln w="6350">
            <a:solidFill>
              <a:srgbClr val="2C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34476" y="2468880"/>
            <a:ext cx="308853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4EFE6"/>
                </a:solidFill>
                <a:latin typeface="Georgia"/>
              </a:rPr>
              <a:t>Ongoing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34476" y="3108960"/>
            <a:ext cx="3088538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2B4B5"/>
                </a:solidFill>
                <a:latin typeface="Calibri"/>
              </a:rPr>
              <a:t>Bid optimization, search term analysis, and continuous refinement. We monitor campaigns daily and report with full transparency.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707D"/>
                </a:solidFill>
                <a:latin typeface="Georgia"/>
              </a:rPr>
              <a:t>STONECUTTER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8695" y="64465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C6775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7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B8D"/>
                </a:solidFill>
                <a:latin typeface="Calibri"/>
              </a:rPr>
              <a:t>REPORTING &amp; INVENTORY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B2D45"/>
                </a:solidFill>
                <a:latin typeface="Georgia"/>
              </a:rPr>
              <a:t>The operational stuff that makes or breaks you.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286000"/>
            <a:ext cx="5120640" cy="1828800"/>
          </a:xfrm>
          <a:prstGeom prst="rect">
            <a:avLst/>
          </a:prstGeom>
          <a:solidFill>
            <a:srgbClr val="E8E2D8"/>
          </a:solidFill>
          <a:ln w="6350">
            <a:solidFill>
              <a:srgbClr val="D3D0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4231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B2D45"/>
                </a:solidFill>
                <a:latin typeface="Georgia"/>
              </a:rPr>
              <a:t>Custom reporting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803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472"/>
                </a:solidFill>
                <a:latin typeface="Calibri"/>
              </a:rPr>
              <a:t>We pull data directly from Amazon's API to build custom dashboards and reports tailored to your business. No generic templates — you see exactly what matters.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0760" y="2286000"/>
            <a:ext cx="5120640" cy="1828800"/>
          </a:xfrm>
          <a:prstGeom prst="rect">
            <a:avLst/>
          </a:prstGeom>
          <a:solidFill>
            <a:srgbClr val="E8E2D8"/>
          </a:solidFill>
          <a:ln w="6350">
            <a:solidFill>
              <a:srgbClr val="D3D0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24231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B2D45"/>
                </a:solidFill>
                <a:latin typeface="Georgia"/>
              </a:rPr>
              <a:t>Performance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8803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472"/>
                </a:solidFill>
                <a:latin typeface="Calibri"/>
              </a:rPr>
              <a:t>We analyze sales trends, profit margins, and account health to identify opportunities and catch problems before they become costly.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297680"/>
            <a:ext cx="5120640" cy="1828800"/>
          </a:xfrm>
          <a:prstGeom prst="rect">
            <a:avLst/>
          </a:prstGeom>
          <a:solidFill>
            <a:srgbClr val="E8E2D8"/>
          </a:solidFill>
          <a:ln w="6350">
            <a:solidFill>
              <a:srgbClr val="D3D0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4348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B2D45"/>
                </a:solidFill>
                <a:latin typeface="Georgia"/>
              </a:rPr>
              <a:t>Inventory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89204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472"/>
                </a:solidFill>
                <a:latin typeface="Calibri"/>
              </a:rPr>
              <a:t>Demand forecasting, replenishment planning, and coordination with your warehouse or 3PL. We keep your best sellers in stock and your storage fees low.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4297680"/>
            <a:ext cx="5120640" cy="1828800"/>
          </a:xfrm>
          <a:prstGeom prst="rect">
            <a:avLst/>
          </a:prstGeom>
          <a:solidFill>
            <a:srgbClr val="E8E2D8"/>
          </a:solidFill>
          <a:ln w="6350">
            <a:solidFill>
              <a:srgbClr val="D3D0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44348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B2D45"/>
                </a:solidFill>
                <a:latin typeface="Georgia"/>
              </a:rPr>
              <a:t>FBA compliance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89204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472"/>
                </a:solidFill>
                <a:latin typeface="Calibri"/>
              </a:rPr>
              <a:t>We manage the details of Fulfillment by Amazon — prep requirements, shipment creation, and resolving any issues that come up along the way.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2B4B5"/>
                </a:solidFill>
                <a:latin typeface="Georgia"/>
              </a:rPr>
              <a:t>STONECUTTER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8695" y="64465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DBEBD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D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78E95"/>
                </a:solidFill>
                <a:latin typeface="Calibri"/>
              </a:rPr>
              <a:t>PROMOTIONS &amp;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4EFE6"/>
                </a:solidFill>
                <a:latin typeface="Georgia"/>
              </a:rPr>
              <a:t>We know every lever Amazon gives you — and we pull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377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ABAD"/>
                </a:solidFill>
                <a:latin typeface="Calibri"/>
              </a:rPr>
              <a:t>We run a full promotional playbook across Amazon's ecosystem to boost rankings, drive velocity, and increase visibility.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3337560"/>
            <a:ext cx="64008" cy="64008"/>
          </a:xfrm>
          <a:prstGeom prst="rect">
            <a:avLst/>
          </a:prstGeom>
          <a:solidFill>
            <a:srgbClr val="855D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200400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C8C5"/>
                </a:solidFill>
                <a:latin typeface="Calibri"/>
              </a:rPr>
              <a:t>Lightning Deals and 7-Day Deals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9320" y="3337560"/>
            <a:ext cx="64008" cy="64008"/>
          </a:xfrm>
          <a:prstGeom prst="rect">
            <a:avLst/>
          </a:prstGeom>
          <a:solidFill>
            <a:srgbClr val="855D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3200400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C8C5"/>
                </a:solidFill>
                <a:latin typeface="Calibri"/>
              </a:rPr>
              <a:t>Coupon and discount strategies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721608"/>
            <a:ext cx="64008" cy="64008"/>
          </a:xfrm>
          <a:prstGeom prst="rect">
            <a:avLst/>
          </a:prstGeom>
          <a:solidFill>
            <a:srgbClr val="855D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584448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C8C5"/>
                </a:solidFill>
                <a:latin typeface="Calibri"/>
              </a:rPr>
              <a:t>Editorial recommendations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3721608"/>
            <a:ext cx="64008" cy="64008"/>
          </a:xfrm>
          <a:prstGeom prst="rect">
            <a:avLst/>
          </a:prstGeom>
          <a:solidFill>
            <a:srgbClr val="855D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3584448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C8C5"/>
                </a:solidFill>
                <a:latin typeface="Calibri"/>
              </a:rPr>
              <a:t>Subscribe &amp; Save optimization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105656"/>
            <a:ext cx="64008" cy="64008"/>
          </a:xfrm>
          <a:prstGeom prst="rect">
            <a:avLst/>
          </a:prstGeom>
          <a:solidFill>
            <a:srgbClr val="855D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968496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C8C5"/>
                </a:solidFill>
                <a:latin typeface="Calibri"/>
              </a:rPr>
              <a:t>Affiliate and influencer programs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4105656"/>
            <a:ext cx="64008" cy="64008"/>
          </a:xfrm>
          <a:prstGeom prst="rect">
            <a:avLst/>
          </a:prstGeom>
          <a:solidFill>
            <a:srgbClr val="855D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3968496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C8C5"/>
                </a:solidFill>
                <a:latin typeface="Calibri"/>
              </a:rPr>
              <a:t>Seasonal and event-based campaigns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489704"/>
            <a:ext cx="64008" cy="64008"/>
          </a:xfrm>
          <a:prstGeom prst="rect">
            <a:avLst/>
          </a:prstGeom>
          <a:solidFill>
            <a:srgbClr val="855D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352544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C8C5"/>
                </a:solidFill>
                <a:latin typeface="Calibri"/>
              </a:rPr>
              <a:t>Rebate and deal site placements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4489704"/>
            <a:ext cx="64008" cy="64008"/>
          </a:xfrm>
          <a:prstGeom prst="rect">
            <a:avLst/>
          </a:prstGeom>
          <a:solidFill>
            <a:srgbClr val="855D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4352544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C8C5"/>
                </a:solidFill>
                <a:latin typeface="Calibri"/>
              </a:rPr>
              <a:t>Brand-tailored promotional codes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707D"/>
                </a:solidFill>
                <a:latin typeface="Georgia"/>
              </a:rPr>
              <a:t>STONECUTTER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8695" y="64465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C6775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B8D"/>
                </a:solidFill>
                <a:latin typeface="Calibri"/>
              </a:rPr>
              <a:t>OUR CLIENTS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058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1B2D45"/>
                </a:solidFill>
                <a:latin typeface="Georgia"/>
              </a:rPr>
              <a:t>Brands that trust us with their Amazon business.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C848D"/>
                </a:solidFill>
                <a:latin typeface="Calibri"/>
              </a:rPr>
              <a:t>Every one of these brands came through a referral.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331720"/>
            <a:ext cx="2602154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41448"/>
            <a:ext cx="232783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D45"/>
                </a:solidFill>
                <a:latin typeface="Calibri"/>
              </a:rPr>
              <a:t>Hiya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62072"/>
            <a:ext cx="232783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B8D"/>
                </a:solidFill>
                <a:latin typeface="Calibri"/>
              </a:rPr>
              <a:t>Baby &amp; Kids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5114" y="2331720"/>
            <a:ext cx="2602154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2274" y="2441448"/>
            <a:ext cx="232783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D45"/>
                </a:solidFill>
                <a:latin typeface="Calibri"/>
              </a:rPr>
              <a:t>First Aid Beauty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2274" y="2862072"/>
            <a:ext cx="232783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B8D"/>
                </a:solidFill>
                <a:latin typeface="Calibri"/>
              </a:rPr>
              <a:t>Skincare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4428" y="2331720"/>
            <a:ext cx="2602154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1588" y="2441448"/>
            <a:ext cx="232783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D45"/>
                </a:solidFill>
                <a:latin typeface="Calibri"/>
              </a:rPr>
              <a:t>Each &amp; Every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1588" y="2862072"/>
            <a:ext cx="232783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B8D"/>
                </a:solidFill>
                <a:latin typeface="Calibri"/>
              </a:rPr>
              <a:t>Personal Care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03742" y="2331720"/>
            <a:ext cx="2602154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40902" y="2441448"/>
            <a:ext cx="232783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D45"/>
                </a:solidFill>
                <a:latin typeface="Calibri"/>
              </a:rPr>
              <a:t>Pet Honesty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40902" y="2862072"/>
            <a:ext cx="232783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B8D"/>
                </a:solidFill>
                <a:latin typeface="Calibri"/>
              </a:rPr>
              <a:t>Pet Health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502152"/>
            <a:ext cx="2602154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611880"/>
            <a:ext cx="232783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D45"/>
                </a:solidFill>
                <a:latin typeface="Calibri"/>
              </a:rPr>
              <a:t>Tumblerware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032504"/>
            <a:ext cx="232783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B8D"/>
                </a:solidFill>
                <a:latin typeface="Calibri"/>
              </a:rPr>
              <a:t>Kitchen &amp; Home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25114" y="3502152"/>
            <a:ext cx="2602154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2274" y="3611880"/>
            <a:ext cx="232783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D45"/>
                </a:solidFill>
                <a:latin typeface="Calibri"/>
              </a:rPr>
              <a:t>Ogee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2274" y="4032504"/>
            <a:ext cx="232783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B8D"/>
                </a:solidFill>
                <a:latin typeface="Calibri"/>
              </a:rPr>
              <a:t>Beauty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64428" y="3502152"/>
            <a:ext cx="2602154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1588" y="3611880"/>
            <a:ext cx="232783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D45"/>
                </a:solidFill>
                <a:latin typeface="Calibri"/>
              </a:rPr>
              <a:t>Khloud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1588" y="4032504"/>
            <a:ext cx="232783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B8D"/>
                </a:solidFill>
                <a:latin typeface="Calibri"/>
              </a:rPr>
              <a:t>Food &amp; Beverage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03742" y="3502152"/>
            <a:ext cx="2602154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40902" y="3611880"/>
            <a:ext cx="232783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D45"/>
                </a:solidFill>
                <a:latin typeface="Calibri"/>
              </a:rPr>
              <a:t>Needed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40902" y="4032504"/>
            <a:ext cx="232783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B8D"/>
                </a:solidFill>
                <a:latin typeface="Calibri"/>
              </a:rPr>
              <a:t>Supplements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4672584"/>
            <a:ext cx="2602154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782312"/>
            <a:ext cx="232783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D45"/>
                </a:solidFill>
                <a:latin typeface="Calibri"/>
              </a:rPr>
              <a:t>JSHealth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202936"/>
            <a:ext cx="232783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B8D"/>
                </a:solidFill>
                <a:latin typeface="Calibri"/>
              </a:rPr>
              <a:t>Vitamins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25114" y="4672584"/>
            <a:ext cx="2602154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62274" y="4782312"/>
            <a:ext cx="232783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D45"/>
                </a:solidFill>
                <a:latin typeface="Calibri"/>
              </a:rPr>
              <a:t>Snap Supplements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2274" y="5202936"/>
            <a:ext cx="232783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B8D"/>
                </a:solidFill>
                <a:latin typeface="Calibri"/>
              </a:rPr>
              <a:t>Sports Nutrition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4428" y="4672584"/>
            <a:ext cx="2602154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1588" y="4782312"/>
            <a:ext cx="232783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D45"/>
                </a:solidFill>
                <a:latin typeface="Calibri"/>
              </a:rPr>
              <a:t>Cheers Health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1588" y="5202936"/>
            <a:ext cx="232783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B8D"/>
                </a:solidFill>
                <a:latin typeface="Calibri"/>
              </a:rPr>
              <a:t>Wellness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03742" y="4672584"/>
            <a:ext cx="2602154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40902" y="4782312"/>
            <a:ext cx="232783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D45"/>
                </a:solidFill>
                <a:latin typeface="Calibri"/>
              </a:rPr>
              <a:t>Maelys Cosmetics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40902" y="5202936"/>
            <a:ext cx="232783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B8D"/>
                </a:solidFill>
                <a:latin typeface="Calibri"/>
              </a:rPr>
              <a:t>Beauty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" y="5843016"/>
            <a:ext cx="2602154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5952744"/>
            <a:ext cx="232783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D45"/>
                </a:solidFill>
                <a:latin typeface="Calibri"/>
              </a:rPr>
              <a:t>iRestore Laser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6373368"/>
            <a:ext cx="232783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B8D"/>
                </a:solidFill>
                <a:latin typeface="Calibri"/>
              </a:rPr>
              <a:t>Health Tech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2B4B5"/>
                </a:solidFill>
                <a:latin typeface="Georgia"/>
              </a:rPr>
              <a:t>STONECUTTER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48695" y="64465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DBEBD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D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78E95"/>
                </a:solidFill>
                <a:latin typeface="Calibri"/>
              </a:rPr>
              <a:t>WHY STONECUTTER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058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4EFE6"/>
                </a:solidFill>
                <a:latin typeface="Georgia"/>
              </a:rPr>
              <a:t>What makes us different is simple.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4EFE6"/>
                </a:solidFill>
                <a:latin typeface="Georgia"/>
              </a:rPr>
              <a:t>We're operators, not advisors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423160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DBEBD"/>
                </a:solidFill>
                <a:latin typeface="Calibri"/>
              </a:rPr>
              <a:t>We don't send a deck and disappear. We're hands-on Amazon experts, in the trenches with you every 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89320" y="20116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4EFE6"/>
                </a:solidFill>
                <a:latin typeface="Georgia"/>
              </a:rPr>
              <a:t>We're selective about who we work with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2423160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DBEBD"/>
                </a:solidFill>
                <a:latin typeface="Calibri"/>
              </a:rPr>
              <a:t>We only take on brands where we know we can add real value. If we're not the right fit, we'll tell you — and point you in the right direction.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54787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4EFE6"/>
                </a:solidFill>
                <a:latin typeface="Georgia"/>
              </a:rPr>
              <a:t>True partnership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959352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DBEBD"/>
                </a:solidFill>
                <a:latin typeface="Calibri"/>
              </a:rPr>
              <a:t>Most agencies stack clients until quality drops. We partner deeply with every brand, focused on outcomes that matter — not just billables.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354787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4EFE6"/>
                </a:solidFill>
                <a:latin typeface="Georgia"/>
              </a:rPr>
              <a:t>We're currently taking on new brands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3959352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DBEBD"/>
                </a:solidFill>
                <a:latin typeface="Calibri"/>
              </a:rPr>
              <a:t>We're selectively expanding and looking for the right partners to grow with. If you're here, someone thought we'd be a good fit.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084064"/>
            <a:ext cx="10820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4EFE6"/>
                </a:solidFill>
                <a:latin typeface="Georgia"/>
              </a:rPr>
              <a:t>We built Polaris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495544"/>
            <a:ext cx="108200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DBEBD"/>
                </a:solidFill>
                <a:latin typeface="Calibri"/>
              </a:rPr>
              <a:t>Our proprietary intelligence layer tracks every brand we manage, surfaces issues before they become problems, and delivers recommendations grounded in real operational data. Not dashboards. Not reports. Decisions.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707D"/>
                </a:solidFill>
                <a:latin typeface="Georgia"/>
              </a:rPr>
              <a:t>STONECUTTER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8695" y="64465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C6775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B8D"/>
                </a:solidFill>
                <a:latin typeface="Calibri"/>
              </a:rPr>
              <a:t>LET'S CONNECT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1B2D45"/>
                </a:solidFill>
                <a:latin typeface="Georgia"/>
              </a:rPr>
              <a:t>We’d love to hear about your brand.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17A85"/>
                </a:solidFill>
                <a:latin typeface="Calibri"/>
              </a:rPr>
              <a:t>Whether you were referred or found us, let’s see if there’s a fit.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929487" y="3200400"/>
            <a:ext cx="3200400" cy="1371600"/>
          </a:xfrm>
          <a:prstGeom prst="rect">
            <a:avLst/>
          </a:prstGeom>
          <a:solidFill>
            <a:srgbClr val="F0EBE2"/>
          </a:solidFill>
          <a:ln w="6350">
            <a:solidFill>
              <a:srgbClr val="D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9487" y="3383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B2D45"/>
                </a:solidFill>
                <a:latin typeface="Georgia"/>
              </a:rPr>
              <a:t>Email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9487" y="3886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C6775"/>
                </a:solidFill>
                <a:latin typeface="Calibri"/>
              </a:rPr>
              <a:t>lee@stonecutter.nyc</a:t>
            </a:r>
          </a:p>
        </p:txBody>
      </p:sp>
      <p:sp>
        <p:nvSpPr>
          <p:cNvPr id="8" name="Rectangle 7"/>
          <p:cNvSpPr/>
          <p:nvPr/>
        </p:nvSpPr>
        <p:spPr>
          <a:xfrm>
            <a:off x="4495647" y="3200400"/>
            <a:ext cx="3200400" cy="1371600"/>
          </a:xfrm>
          <a:prstGeom prst="rect">
            <a:avLst/>
          </a:prstGeom>
          <a:solidFill>
            <a:srgbClr val="F0EBE2"/>
          </a:solidFill>
          <a:ln w="6350">
            <a:solidFill>
              <a:srgbClr val="D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5647" y="3383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B2D45"/>
                </a:solidFill>
                <a:latin typeface="Georgia"/>
              </a:rPr>
              <a:t>Phone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5647" y="3886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C6775"/>
                </a:solidFill>
                <a:latin typeface="Calibri"/>
              </a:rPr>
              <a:t>917.363.8949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61807" y="3200400"/>
            <a:ext cx="3200400" cy="1371600"/>
          </a:xfrm>
          <a:prstGeom prst="rect">
            <a:avLst/>
          </a:prstGeom>
          <a:solidFill>
            <a:srgbClr val="F0EBE2"/>
          </a:solidFill>
          <a:ln w="6350">
            <a:solidFill>
              <a:srgbClr val="D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1807" y="3383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B2D45"/>
                </a:solidFill>
                <a:latin typeface="Georgia"/>
              </a:rPr>
              <a:t>Website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1807" y="3886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C6775"/>
                </a:solidFill>
                <a:latin typeface="Calibri"/>
              </a:rPr>
              <a:t>stonecutter.nyc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2B4B5"/>
                </a:solidFill>
                <a:latin typeface="Georgia"/>
              </a:rPr>
              <a:t>STONECUTTER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8695" y="64465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DBEBD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