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200" b="0" i="0">
                <a:solidFill>
                  <a:srgbClr val="F4EFE6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803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400" b="0" i="0">
                <a:solidFill>
                  <a:srgbClr val="9A9793"/>
                </a:solidFill>
                <a:latin typeface="Hanken Grotesk"/>
              </a:defRPr>
            </a:pPr>
            <a:r>
              <a:t>NYC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1148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defRPr sz="2400" b="0" i="0">
                <a:solidFill>
                  <a:srgbClr val="9A9793"/>
                </a:solidFill>
                <a:latin typeface="Cormorant Garamond"/>
              </a:defRPr>
            </a:pPr>
            <a:r>
              <a:t>Amazon growth partners built on reputation.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706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Hanken Grotesk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355E3B"/>
                </a:solidFill>
                <a:latin typeface="Hanken Grotesk"/>
              </a:defRPr>
            </a:pPr>
            <a: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4200" b="0" i="0">
                <a:solidFill>
                  <a:srgbClr val="1B2D45"/>
                </a:solidFill>
                <a:latin typeface="Cormorant Garamond"/>
              </a:defRPr>
            </a:pPr>
            <a:r>
              <a:t>100% of our clients have</a:t>
            </a:r>
            <a:br/>
            <a:r>
              <a:t>come from referral.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  <a:defRPr sz="1300" b="0" i="0">
                <a:solidFill>
                  <a:srgbClr val="6B7B8D"/>
                </a:solidFill>
                <a:latin typeface="Hanken Grotesk"/>
              </a:defRPr>
            </a:pPr>
            <a:r>
              <a:t>We've never run an ad for ourselves. Never cold-called a prospect. Every single brand we work with found us because someone they trust told them to call us. That's not a marketing strategy - it's the result of doing exceptional work, consistently.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800" b="0" i="0">
                <a:solidFill>
                  <a:srgbClr val="1B2D45"/>
                </a:solidFill>
                <a:latin typeface="Cormorant Garamond"/>
              </a:defRPr>
            </a:pPr>
            <a:r>
              <a:t>$220M+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6B7B8D"/>
                </a:solidFill>
                <a:latin typeface="Hanken Grotesk"/>
              </a:defRPr>
            </a:pPr>
            <a:r>
              <a:t>Revenue managed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800" b="0" i="0">
                <a:solidFill>
                  <a:srgbClr val="1B2D45"/>
                </a:solidFill>
                <a:latin typeface="Cormorant Garamond"/>
              </a:defRPr>
            </a:pPr>
            <a:r>
              <a:t>$20M+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6B7B8D"/>
                </a:solidFill>
                <a:latin typeface="Hanken Grotesk"/>
              </a:defRPr>
            </a:pPr>
            <a:r>
              <a:t>Annual ad 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800" b="0" i="0">
                <a:solidFill>
                  <a:srgbClr val="1B2D45"/>
                </a:solidFill>
                <a:latin typeface="Cormorant Garamond"/>
              </a:defRPr>
            </a:pPr>
            <a:r>
              <a:t>35+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6B7B8D"/>
                </a:solidFill>
                <a:latin typeface="Hanken Grotesk"/>
              </a:defRPr>
            </a:pPr>
            <a:r>
              <a:t>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3832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800" b="0" i="0">
                <a:solidFill>
                  <a:srgbClr val="1B2D45"/>
                </a:solidFill>
                <a:latin typeface="Cormorant Garamond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6B7B8D"/>
                </a:solidFill>
                <a:latin typeface="Hanken Grotesk"/>
              </a:defRPr>
            </a:pPr>
            <a:r>
              <a:t>Referral-based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9A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9A9793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9A9793"/>
                </a:solidFill>
                <a:latin typeface="Hanken Grotesk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4A7A52"/>
                </a:solidFill>
                <a:latin typeface="Hanken Grotesk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4200" b="0" i="0">
                <a:solidFill>
                  <a:srgbClr val="F4EFE6"/>
                </a:solidFill>
                <a:latin typeface="Cormorant Garamond"/>
              </a:defRPr>
            </a:pPr>
            <a:r>
              <a:t>The agency model has</a:t>
            </a:r>
            <a:br/>
            <a:r>
              <a:t>always been broken.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937760"/>
            <a:ext cx="25400" cy="822960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  <a:defRPr sz="1300" b="0" i="0">
                <a:solidFill>
                  <a:srgbClr val="9A9793"/>
                </a:solidFill>
                <a:latin typeface="Hanken Grotesk"/>
              </a:defRPr>
            </a:pPr>
            <a:r>
              <a:t>Most agencies stack clients until quality drops. They sell you a senior team in the pitch and hand you off to juniors after the ink dries. They optimize for their revenue, not yours.</a:t>
            </a:r>
            <a:br/>
            <a:br/>
            <a:r>
              <a:t>We built Stonecutter to be different. We're boutique by design, selective about who we work with, and structured so that our success is tied directly to yours.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  <a:defRPr sz="1600" b="0" i="1">
                <a:solidFill>
                  <a:srgbClr val="F4EFE6"/>
                </a:solidFill>
                <a:latin typeface="Cormorant Garamond"/>
              </a:defRPr>
            </a:pPr>
            <a:r>
              <a:t>"It takes 20 years to build a reputation and five minutes to ruin it. If you think about that, you'll do things differently."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6B7B8D"/>
                </a:solidFill>
                <a:latin typeface="Hanken Grotesk"/>
              </a:defRPr>
            </a:pPr>
            <a:r>
              <a:t>Warren Buffett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706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Hanken Grotesk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5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56032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5200" b="0" i="1">
                <a:solidFill>
                  <a:srgbClr val="F4EFE6"/>
                </a:solidFill>
                <a:latin typeface="Cormorant Garamond"/>
              </a:defRPr>
            </a:pPr>
            <a:r>
              <a:t>Here's what we actually 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706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Hanken Grotesk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355E3B"/>
                </a:solidFill>
                <a:latin typeface="Hanken Grotesk"/>
              </a:defRPr>
            </a:pPr>
            <a:r>
              <a:t>Full Account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600" b="0" i="0">
                <a:solidFill>
                  <a:srgbClr val="1B2D45"/>
                </a:solidFill>
                <a:latin typeface="Cormorant Garamond"/>
              </a:defRPr>
            </a:pPr>
            <a:r>
              <a:t>We run your Amazon business like it's 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32004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89120" y="2743200"/>
            <a:ext cx="32004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2743200"/>
            <a:ext cx="32004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754880"/>
            <a:ext cx="32004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4754880"/>
            <a:ext cx="32004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4754880"/>
            <a:ext cx="3200400" cy="12700"/>
          </a:xfrm>
          <a:prstGeom prst="rect">
            <a:avLst/>
          </a:prstGeom>
          <a:solidFill>
            <a:srgbClr val="D0C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600" b="0" i="0">
                <a:solidFill>
                  <a:srgbClr val="1B2D45"/>
                </a:solidFill>
                <a:latin typeface="Cormorant Garamond"/>
              </a:defRPr>
            </a:pPr>
            <a:r>
              <a:t>Account setup and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050" b="0" i="0">
                <a:solidFill>
                  <a:srgbClr val="6B7B8D"/>
                </a:solidFill>
                <a:latin typeface="Hanken Grotesk"/>
              </a:defRPr>
            </a:pPr>
            <a:r>
              <a:t>Brand registration, account configuration, tax setup, and a dedicated account manager from day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600" b="0" i="0">
                <a:solidFill>
                  <a:srgbClr val="1B2D45"/>
                </a:solidFill>
                <a:latin typeface="Cormorant Garamond"/>
              </a:defRPr>
            </a:pPr>
            <a:r>
              <a:t>Catalog and data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050" b="0" i="0">
                <a:solidFill>
                  <a:srgbClr val="6B7B8D"/>
                </a:solidFill>
                <a:latin typeface="Hanken Grotesk"/>
              </a:defRPr>
            </a:pPr>
            <a:r>
              <a:t>Product data audits, listing creation, flat file uploads, and ongoing catalog maintenance.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600" b="0" i="0">
                <a:solidFill>
                  <a:srgbClr val="1B2D45"/>
                </a:solidFill>
                <a:latin typeface="Cormorant Garamond"/>
              </a:defRPr>
            </a:pPr>
            <a:r>
              <a:t>Listing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291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050" b="0" i="0">
                <a:solidFill>
                  <a:srgbClr val="6B7B8D"/>
                </a:solidFill>
                <a:latin typeface="Hanken Grotesk"/>
              </a:defRPr>
            </a:pPr>
            <a:r>
              <a:t>Keyword research, conversion-focused copy, A+ content, and continuous performance testing.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600" b="0" i="0">
                <a:solidFill>
                  <a:srgbClr val="1B2D45"/>
                </a:solidFill>
                <a:latin typeface="Cormorant Garamond"/>
              </a:defRPr>
            </a:pPr>
            <a:r>
              <a:t>Advertising and PPC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050" b="0" i="0">
                <a:solidFill>
                  <a:srgbClr val="6B7B8D"/>
                </a:solidFill>
                <a:latin typeface="Hanken Grotesk"/>
              </a:defRPr>
            </a:pPr>
            <a:r>
              <a:t>Campaign architecture, bid management, budget planning, and transparent performance reporting.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600" b="0" i="0">
                <a:solidFill>
                  <a:srgbClr val="1B2D45"/>
                </a:solidFill>
                <a:latin typeface="Cormorant Garamond"/>
              </a:defRPr>
            </a:pPr>
            <a:r>
              <a:t>Inventory and logistics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303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050" b="0" i="0">
                <a:solidFill>
                  <a:srgbClr val="6B7B8D"/>
                </a:solidFill>
                <a:latin typeface="Hanken Grotesk"/>
              </a:defRPr>
            </a:pPr>
            <a:r>
              <a:t>Demand forecasting, replenishment planning, 3PL coordination, and FBA compliance.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600" b="0" i="0">
                <a:solidFill>
                  <a:srgbClr val="1B2D45"/>
                </a:solidFill>
                <a:latin typeface="Cormorant Garamond"/>
              </a:defRPr>
            </a:pPr>
            <a:r>
              <a:t>Storefront and brand presence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30352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050" b="0" i="0">
                <a:solidFill>
                  <a:srgbClr val="6B7B8D"/>
                </a:solidFill>
                <a:latin typeface="Hanken Grotesk"/>
              </a:defRPr>
            </a:pPr>
            <a:r>
              <a:t>Custom storefronts, brand store design, product photography direction, and brand integrity.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9A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9A9793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9A9793"/>
                </a:solidFill>
                <a:latin typeface="Hanken Grotesk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4A7A52"/>
                </a:solidFill>
                <a:latin typeface="Hanken Grotesk"/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600" b="0" i="0">
                <a:solidFill>
                  <a:srgbClr val="F4EFE6"/>
                </a:solidFill>
                <a:latin typeface="Cormorant Garamond"/>
              </a:defRPr>
            </a:pPr>
            <a:r>
              <a:t>How we bring a brand onboard.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2560320" cy="3017520"/>
          </a:xfrm>
          <a:prstGeom prst="roundRect">
            <a:avLst/>
          </a:prstGeom>
          <a:solidFill>
            <a:srgbClr val="1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2743200"/>
            <a:ext cx="2560320" cy="3017520"/>
          </a:xfrm>
          <a:prstGeom prst="roundRect">
            <a:avLst/>
          </a:prstGeom>
          <a:solidFill>
            <a:srgbClr val="1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2743200"/>
            <a:ext cx="2560320" cy="3017520"/>
          </a:xfrm>
          <a:prstGeom prst="roundRect">
            <a:avLst/>
          </a:prstGeom>
          <a:solidFill>
            <a:srgbClr val="1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5440" y="2743200"/>
            <a:ext cx="2560320" cy="3017520"/>
          </a:xfrm>
          <a:prstGeom prst="roundRect">
            <a:avLst/>
          </a:prstGeom>
          <a:solidFill>
            <a:srgbClr val="1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0" i="0">
                <a:solidFill>
                  <a:srgbClr val="2A3E56"/>
                </a:solidFill>
                <a:latin typeface="Cormorant Garamond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800" b="0" i="0">
                <a:solidFill>
                  <a:srgbClr val="F4EFE6"/>
                </a:solidFill>
                <a:latin typeface="Cormorant Garamond"/>
              </a:defRPr>
            </a:pPr>
            <a: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050" b="0" i="0">
                <a:solidFill>
                  <a:srgbClr val="9A9793"/>
                </a:solidFill>
                <a:latin typeface="Hanken Grotesk"/>
              </a:defRPr>
            </a:pPr>
            <a:r>
              <a:t>We learn your brand, your goals, and your current Amazon presence. No templates - every engagement starts with understanding.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4023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400" b="0" i="0">
                <a:solidFill>
                  <a:srgbClr val="3A4E66"/>
                </a:solidFill>
                <a:latin typeface="Hanken Grotesk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926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0" i="0">
                <a:solidFill>
                  <a:srgbClr val="2A3E56"/>
                </a:solidFill>
                <a:latin typeface="Cormorant Garamond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800" b="0" i="0">
                <a:solidFill>
                  <a:srgbClr val="F4EFE6"/>
                </a:solidFill>
                <a:latin typeface="Cormorant Garamond"/>
              </a:defRPr>
            </a:pPr>
            <a:r>
              <a:t>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050" b="0" i="0">
                <a:solidFill>
                  <a:srgbClr val="9A9793"/>
                </a:solidFill>
                <a:latin typeface="Hanken Grotesk"/>
              </a:defRPr>
            </a:pPr>
            <a:r>
              <a:t>A deep dive into your catalog, listings, advertising, and competitive landscape. We find what's working and what's not.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023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400" b="0" i="0">
                <a:solidFill>
                  <a:srgbClr val="3A4E66"/>
                </a:solidFill>
                <a:latin typeface="Hanken Grotesk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0" i="0">
                <a:solidFill>
                  <a:srgbClr val="2A3E56"/>
                </a:solidFill>
                <a:latin typeface="Cormorant Garamond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800" b="0" i="0">
                <a:solidFill>
                  <a:srgbClr val="F4EFE6"/>
                </a:solidFill>
                <a:latin typeface="Cormorant Garamond"/>
              </a:defRPr>
            </a:pPr>
            <a:r>
              <a:t>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050" b="0" i="0">
                <a:solidFill>
                  <a:srgbClr val="9A9793"/>
                </a:solidFill>
                <a:latin typeface="Hanken Grotesk"/>
              </a:defRPr>
            </a:pPr>
            <a:r>
              <a:t>We build a custom roadmap with clear milestones, realistic timelines, and measurable KPIs tied to your business goals.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4023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400" b="0" i="0">
                <a:solidFill>
                  <a:srgbClr val="3A4E66"/>
                </a:solidFill>
                <a:latin typeface="Hanken Grotesk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9260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0" i="0">
                <a:solidFill>
                  <a:srgbClr val="2A3E56"/>
                </a:solidFill>
                <a:latin typeface="Cormorant Garamond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800" b="0" i="0">
                <a:solidFill>
                  <a:srgbClr val="F4EFE6"/>
                </a:solidFill>
                <a:latin typeface="Cormorant Garamond"/>
              </a:defRPr>
            </a:pPr>
            <a:r>
              <a:t>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114800"/>
            <a:ext cx="2194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050" b="0" i="0">
                <a:solidFill>
                  <a:srgbClr val="9A9793"/>
                </a:solidFill>
                <a:latin typeface="Hanken Grotesk"/>
              </a:defRPr>
            </a:pPr>
            <a:r>
              <a:t>Hands on keyboard. We implement, optimize, report, and iterate. You get a dedicated team, not a shared resource pool.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706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Hanken Grotesk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355E3B"/>
                </a:solidFill>
                <a:latin typeface="Hanken Grotesk"/>
              </a:defRPr>
            </a:pPr>
            <a:r>
              <a:t>Listing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600" b="0" i="0">
                <a:solidFill>
                  <a:srgbClr val="1B2D45"/>
                </a:solidFill>
                <a:latin typeface="Cormorant Garamond"/>
              </a:defRPr>
            </a:pPr>
            <a:r>
              <a:t>We make your products impossible to scroll past.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3291840" cy="2743200"/>
          </a:xfrm>
          <a:prstGeom prst="round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2926080"/>
            <a:ext cx="3291840" cy="2743200"/>
          </a:xfrm>
          <a:prstGeom prst="round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0" y="2926080"/>
            <a:ext cx="3291840" cy="2743200"/>
          </a:xfrm>
          <a:prstGeom prst="roundRect">
            <a:avLst/>
          </a:prstGeom>
          <a:solidFill>
            <a:srgbClr val="E8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700" b="0" i="0">
                <a:solidFill>
                  <a:srgbClr val="1B2D45"/>
                </a:solidFill>
                <a:latin typeface="Cormorant Garamond"/>
              </a:defRPr>
            </a:pPr>
            <a:r>
              <a:t>Keyword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100" b="0" i="0">
                <a:solidFill>
                  <a:srgbClr val="6B7B8D"/>
                </a:solidFill>
                <a:latin typeface="Hanken Grotesk"/>
              </a:defRPr>
            </a:pPr>
            <a:r>
              <a:t>We analyze the algorithm, study competitor listings, and identify the highest-value keywords for your products. Not guesswork -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700" b="0" i="0">
                <a:solidFill>
                  <a:srgbClr val="1B2D45"/>
                </a:solidFill>
                <a:latin typeface="Cormorant Garamond"/>
              </a:defRPr>
            </a:pPr>
            <a:r>
              <a:t>Conversion 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7033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100" b="0" i="0">
                <a:solidFill>
                  <a:srgbClr val="6B7B8D"/>
                </a:solidFill>
                <a:latin typeface="Hanken Grotesk"/>
              </a:defRPr>
            </a:pPr>
            <a:r>
              <a:t>Amazon-optimized product copy that drives sales and improves organic ranking while maintaining your brand voice. Every word earns its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700" b="0" i="0">
                <a:solidFill>
                  <a:srgbClr val="1B2D45"/>
                </a:solidFill>
                <a:latin typeface="Cormorant Garamond"/>
              </a:defRPr>
            </a:pPr>
            <a:r>
              <a:t>Performance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7033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100" b="0" i="0">
                <a:solidFill>
                  <a:srgbClr val="6B7B8D"/>
                </a:solidFill>
                <a:latin typeface="Hanken Grotesk"/>
              </a:defRPr>
            </a:pPr>
            <a:r>
              <a:t>We measure conversion rates, track keyword rankings, and continuously test and refine listings to maximize performance over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9A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9A9793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9A9793"/>
                </a:solidFill>
                <a:latin typeface="Hanken Grotesk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4A7A52"/>
                </a:solidFill>
                <a:latin typeface="Hanken Grotesk"/>
              </a:defRPr>
            </a:pPr>
            <a:r>
              <a:t>Advertising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600" b="0" i="0">
                <a:solidFill>
                  <a:srgbClr val="F4EFE6"/>
                </a:solidFill>
                <a:latin typeface="Cormorant Garamond"/>
              </a:defRPr>
            </a:pPr>
            <a:r>
              <a:t>Your ad spend, treated like our own money.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3291840" cy="2743200"/>
          </a:xfrm>
          <a:prstGeom prst="roundRect">
            <a:avLst/>
          </a:prstGeom>
          <a:solidFill>
            <a:srgbClr val="1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9120" y="2926080"/>
            <a:ext cx="3291840" cy="2743200"/>
          </a:xfrm>
          <a:prstGeom prst="roundRect">
            <a:avLst/>
          </a:prstGeom>
          <a:solidFill>
            <a:srgbClr val="1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0" y="2926080"/>
            <a:ext cx="3291840" cy="2743200"/>
          </a:xfrm>
          <a:prstGeom prst="roundRect">
            <a:avLst/>
          </a:prstGeom>
          <a:solidFill>
            <a:srgbClr val="1F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700" b="0" i="0">
                <a:solidFill>
                  <a:srgbClr val="F4EFE6"/>
                </a:solidFill>
                <a:latin typeface="Cormorant Garamond"/>
              </a:defRPr>
            </a:pPr>
            <a:r>
              <a:t>Campaign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100" b="0" i="0">
                <a:solidFill>
                  <a:srgbClr val="9A9793"/>
                </a:solidFill>
                <a:latin typeface="Hanken Grotesk"/>
              </a:defRPr>
            </a:pPr>
            <a:r>
              <a:t>We build structured campaign frameworks that scale efficiently - from Sponsored Products to DSP - without wasting spend on low-intent traffic.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700" b="0" i="0">
                <a:solidFill>
                  <a:srgbClr val="F4EFE6"/>
                </a:solidFill>
                <a:latin typeface="Cormorant Garamond"/>
              </a:defRPr>
            </a:pPr>
            <a:r>
              <a:t>Budget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7033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100" b="0" i="0">
                <a:solidFill>
                  <a:srgbClr val="9A9793"/>
                </a:solidFill>
                <a:latin typeface="Hanken Grotesk"/>
              </a:defRPr>
            </a:pPr>
            <a:r>
              <a:t>We work with your team to set realistic budgets, forecast returns, and allocate spend where it actually moves the needle.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700" b="0" i="0">
                <a:solidFill>
                  <a:srgbClr val="F4EFE6"/>
                </a:solidFill>
                <a:latin typeface="Cormorant Garamond"/>
              </a:defRPr>
            </a:pPr>
            <a:r>
              <a:t>Ongoing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70332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100" b="0" i="0">
                <a:solidFill>
                  <a:srgbClr val="9A9793"/>
                </a:solidFill>
                <a:latin typeface="Hanken Grotesk"/>
              </a:defRPr>
            </a:pPr>
            <a:r>
              <a:t>Bid optimization, search term analysis, and continuous refinement. We monitor campaigns daily and report with full transparency.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706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Hanken Grotesk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7D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355E3B"/>
                </a:solidFill>
                <a:latin typeface="Hanken Grotesk"/>
              </a:defRPr>
            </a:pPr>
            <a:r>
              <a:t>Reporting &amp;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600" b="0" i="0">
                <a:solidFill>
                  <a:srgbClr val="1B2D45"/>
                </a:solidFill>
                <a:latin typeface="Cormorant Garamond"/>
              </a:defRPr>
            </a:pPr>
            <a:r>
              <a:t>The operational stuff that makes or breaks you.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743200"/>
            <a:ext cx="457200" cy="25400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0" y="2743200"/>
            <a:ext cx="457200" cy="25400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457200" cy="25400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4572000"/>
            <a:ext cx="457200" cy="25400"/>
          </a:xfrm>
          <a:prstGeom prst="rect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800" b="0" i="0">
                <a:solidFill>
                  <a:srgbClr val="1B2D45"/>
                </a:solidFill>
                <a:latin typeface="Cormorant Garamond"/>
              </a:defRPr>
            </a:pPr>
            <a:r>
              <a:t>Custom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100" b="0" i="0">
                <a:solidFill>
                  <a:srgbClr val="6B7B8D"/>
                </a:solidFill>
                <a:latin typeface="Hanken Grotesk"/>
              </a:defRPr>
            </a:pPr>
            <a:r>
              <a:t>We pull data directly from Amazon's API to build custom dashboards and reports tailored to your business. No generic templates.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880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800" b="0" i="0">
                <a:solidFill>
                  <a:srgbClr val="1B2D45"/>
                </a:solidFill>
                <a:latin typeface="Cormorant Garamond"/>
              </a:defRPr>
            </a:pPr>
            <a:r>
              <a:t>Performance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91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100" b="0" i="0">
                <a:solidFill>
                  <a:srgbClr val="6B7B8D"/>
                </a:solidFill>
                <a:latin typeface="Hanken Grotesk"/>
              </a:defRPr>
            </a:pPr>
            <a:r>
              <a:t>We analyze sales trends, profit margins, and account health to identify opportunities and catch problems early.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800" b="0" i="0">
                <a:solidFill>
                  <a:srgbClr val="1B2D45"/>
                </a:solidFill>
                <a:latin typeface="Cormorant Garamond"/>
              </a:defRPr>
            </a:pPr>
            <a:r>
              <a:t>Inventory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100" b="0" i="0">
                <a:solidFill>
                  <a:srgbClr val="6B7B8D"/>
                </a:solidFill>
                <a:latin typeface="Hanken Grotesk"/>
              </a:defRPr>
            </a:pPr>
            <a:r>
              <a:t>Demand forecasting, replenishment planning, and coordination with your warehouse or 3PL. Best sellers stay in stock.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800" b="0" i="0">
                <a:solidFill>
                  <a:srgbClr val="1B2D45"/>
                </a:solidFill>
                <a:latin typeface="Cormorant Garamond"/>
              </a:defRPr>
            </a:pPr>
            <a:r>
              <a:t>FBA compliance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100" b="0" i="0">
                <a:solidFill>
                  <a:srgbClr val="6B7B8D"/>
                </a:solidFill>
                <a:latin typeface="Hanken Grotesk"/>
              </a:defRPr>
            </a:pPr>
            <a:r>
              <a:t>We manage Fulfillment by Amazon details - prep requirements, shipment creation, and resolving issues along the way.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9A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9A9793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9A9793"/>
                </a:solidFill>
                <a:latin typeface="Hanken Grotesk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4A7A52"/>
                </a:solidFill>
                <a:latin typeface="Hanken Grotesk"/>
              </a:defRPr>
            </a:pPr>
            <a:r>
              <a:t>Promotions &amp;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3600" b="0" i="0">
                <a:solidFill>
                  <a:srgbClr val="F4EFE6"/>
                </a:solidFill>
                <a:latin typeface="Cormorant Garamond"/>
              </a:defRPr>
            </a:pPr>
            <a:r>
              <a:t>We know every lever Amazon gives you -</a:t>
            </a:r>
            <a:br/>
            <a:r>
              <a:t>and we pull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  <a:defRPr sz="1300" b="0" i="0">
                <a:solidFill>
                  <a:srgbClr val="9A9793"/>
                </a:solidFill>
                <a:latin typeface="Hanken Grotesk"/>
              </a:defRPr>
            </a:pPr>
            <a:r>
              <a:t>We run a full promotional playbook across Amazon's ecosystem to boost rankings, drive velocity, and increase visibility.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913632"/>
            <a:ext cx="76200" cy="76200"/>
          </a:xfrm>
          <a:prstGeom prst="ellipse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60720" y="3913632"/>
            <a:ext cx="76200" cy="76200"/>
          </a:xfrm>
          <a:prstGeom prst="ellipse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4416552"/>
            <a:ext cx="76200" cy="76200"/>
          </a:xfrm>
          <a:prstGeom prst="ellipse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60720" y="4416552"/>
            <a:ext cx="76200" cy="76200"/>
          </a:xfrm>
          <a:prstGeom prst="ellipse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4919472"/>
            <a:ext cx="76200" cy="76200"/>
          </a:xfrm>
          <a:prstGeom prst="ellipse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720" y="4919472"/>
            <a:ext cx="76200" cy="76200"/>
          </a:xfrm>
          <a:prstGeom prst="ellipse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5422392"/>
            <a:ext cx="76200" cy="76200"/>
          </a:xfrm>
          <a:prstGeom prst="ellipse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0" y="5422392"/>
            <a:ext cx="76200" cy="76200"/>
          </a:xfrm>
          <a:prstGeom prst="ellipse">
            <a:avLst/>
          </a:prstGeom>
          <a:solidFill>
            <a:srgbClr val="85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F4EFE6"/>
                </a:solidFill>
                <a:latin typeface="Hanken Grotesk"/>
              </a:defRPr>
            </a:pPr>
            <a:r>
              <a:t>Lightning Deals and 7-Day Deals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840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F4EFE6"/>
                </a:solidFill>
                <a:latin typeface="Hanken Grotesk"/>
              </a:defRPr>
            </a:pPr>
            <a:r>
              <a:t>Coupon and discount strategies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F4EFE6"/>
                </a:solidFill>
                <a:latin typeface="Hanken Grotesk"/>
              </a:defRPr>
            </a:pPr>
            <a:r>
              <a:t>Editorial 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343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F4EFE6"/>
                </a:solidFill>
                <a:latin typeface="Hanken Grotesk"/>
              </a:defRPr>
            </a:pPr>
            <a:r>
              <a:t>Subscribe &amp; Save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F4EFE6"/>
                </a:solidFill>
                <a:latin typeface="Hanken Grotesk"/>
              </a:defRPr>
            </a:pPr>
            <a:r>
              <a:t>Affiliate and influencer programs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F4EFE6"/>
                </a:solidFill>
                <a:latin typeface="Hanken Grotesk"/>
              </a:defRPr>
            </a:pPr>
            <a:r>
              <a:t>Seasonal and event-based campaigns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F4EFE6"/>
                </a:solidFill>
                <a:latin typeface="Hanken Grotesk"/>
              </a:defRPr>
            </a:pPr>
            <a:r>
              <a:t>Rebate and deal site placements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F4EFE6"/>
                </a:solidFill>
                <a:latin typeface="Hanken Grotesk"/>
              </a:defRPr>
            </a:pPr>
            <a:r>
              <a:t>Brand-tailored promotional codes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706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Hanken Grotesk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5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B8D4BE"/>
                </a:solidFill>
                <a:latin typeface="Hanken Grotesk"/>
              </a:defRPr>
            </a:pPr>
            <a:r>
              <a:t>Why Stonecutter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4200" b="0" i="0">
                <a:solidFill>
                  <a:srgbClr val="F4EFE6"/>
                </a:solidFill>
                <a:latin typeface="Cormorant Garamond"/>
              </a:defRPr>
            </a:pPr>
            <a:r>
              <a:t>What makes us different is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2000" b="0" i="0">
                <a:solidFill>
                  <a:srgbClr val="F4EFE6"/>
                </a:solidFill>
                <a:latin typeface="Cormorant Garamond"/>
              </a:defRPr>
            </a:pPr>
            <a:r>
              <a:t>We're operators, not advisors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29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200" b="0" i="0">
                <a:solidFill>
                  <a:srgbClr val="B8D4BE"/>
                </a:solidFill>
                <a:latin typeface="Hanken Grotesk"/>
              </a:defRPr>
            </a:pPr>
            <a:r>
              <a:t>We don't send you a deck and disappear. We're in your account every day, hands on keyboard, making things happen.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926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2000" b="0" i="0">
                <a:solidFill>
                  <a:srgbClr val="F4EFE6"/>
                </a:solidFill>
                <a:latin typeface="Cormorant Garamond"/>
              </a:defRPr>
            </a:pPr>
            <a:r>
              <a:t>We're selective about who we work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4290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200" b="0" i="0">
                <a:solidFill>
                  <a:srgbClr val="B8D4BE"/>
                </a:solidFill>
                <a:latin typeface="Hanken Grotesk"/>
              </a:defRPr>
            </a:pPr>
            <a:r>
              <a:t>We only take on brands where we know we can add real value. Our reputation depends on results - not client 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2000" b="0" i="0">
                <a:solidFill>
                  <a:srgbClr val="F4EFE6"/>
                </a:solidFill>
                <a:latin typeface="Cormorant Garamond"/>
              </a:defRPr>
            </a:pPr>
            <a:r>
              <a:t>Your success is our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200" b="0" i="0">
                <a:solidFill>
                  <a:srgbClr val="B8D4BE"/>
                </a:solidFill>
                <a:latin typeface="Hanken Grotesk"/>
              </a:defRPr>
            </a:pPr>
            <a:r>
              <a:t>We structure partnerships so incentives are aligned. When you win, we win. That's how it should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2000" b="0" i="0">
                <a:solidFill>
                  <a:srgbClr val="F4EFE6"/>
                </a:solidFill>
                <a:latin typeface="Cormorant Garamond"/>
              </a:defRPr>
            </a:pPr>
            <a:r>
              <a:t>We're currently taking on new brands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2578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  <a:defRPr sz="1200" b="0" i="0">
                <a:solidFill>
                  <a:srgbClr val="B8D4BE"/>
                </a:solidFill>
                <a:latin typeface="Hanken Grotesk"/>
              </a:defRPr>
            </a:pPr>
            <a:r>
              <a:t>We're selectively expanding and looking for the right partners to grow with. If you're here, someone thought we'd be a good fit.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706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Hanken Grotesk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000" b="0" i="0">
                <a:solidFill>
                  <a:srgbClr val="355E3B"/>
                </a:solidFill>
                <a:latin typeface="Hanken Grotesk"/>
              </a:defRPr>
            </a:pPr>
            <a:r>
              <a:t>Let's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01168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  <a:defRPr sz="4200" b="0" i="0">
                <a:solidFill>
                  <a:srgbClr val="1B2D45"/>
                </a:solidFill>
                <a:latin typeface="Cormorant Garamond"/>
              </a:defRPr>
            </a:pPr>
            <a:r>
              <a:t>We'd love to hear about your brand.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Aft>
                <a:spcPts val="0"/>
              </a:spcAft>
              <a:defRPr sz="1400" b="0" i="0">
                <a:solidFill>
                  <a:srgbClr val="6B7B8D"/>
                </a:solidFill>
                <a:latin typeface="Hanken Grotesk"/>
              </a:defRPr>
            </a:pPr>
            <a:r>
              <a:t>Whether you were referred by a friend or just found us, we're always happy to have a conversation.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600" b="0" i="0">
                <a:solidFill>
                  <a:srgbClr val="1B2D45"/>
                </a:solidFill>
                <a:latin typeface="Cormorant Garamond"/>
              </a:defRPr>
            </a:pPr>
            <a:r>
              <a:t>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200" b="0" i="0">
                <a:solidFill>
                  <a:srgbClr val="6B7B8D"/>
                </a:solidFill>
                <a:latin typeface="Hanken Grotesk"/>
              </a:defRPr>
            </a:pPr>
            <a:r>
              <a:t>lee@stonecutter.nyc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600" b="0" i="0">
                <a:solidFill>
                  <a:srgbClr val="1B2D45"/>
                </a:solidFill>
                <a:latin typeface="Cormorant Garamond"/>
              </a:defRPr>
            </a:pPr>
            <a:r>
              <a:t>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200" b="0" i="0">
                <a:solidFill>
                  <a:srgbClr val="6B7B8D"/>
                </a:solidFill>
                <a:latin typeface="Hanken Grotesk"/>
              </a:defRPr>
            </a:pPr>
            <a:r>
              <a:t>917.363.8949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600" b="0" i="0">
                <a:solidFill>
                  <a:srgbClr val="1B2D45"/>
                </a:solidFill>
                <a:latin typeface="Cormorant Garamond"/>
              </a:defRPr>
            </a:pPr>
            <a:r>
              <a:t>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983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  <a:defRPr sz="1200" b="0" i="0">
                <a:solidFill>
                  <a:srgbClr val="6B7B8D"/>
                </a:solidFill>
                <a:latin typeface="Hanken Grotesk"/>
              </a:defRPr>
            </a:pPr>
            <a:r>
              <a:t>stonecutter.nyc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9A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9A9793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9A9793"/>
                </a:solidFill>
                <a:latin typeface="Hanken Grotesk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6400" b="0" i="0">
                <a:solidFill>
                  <a:srgbClr val="F4EFE6"/>
                </a:solidFill>
                <a:latin typeface="Cormorant Garamond"/>
              </a:defRPr>
            </a:pPr>
            <a:r>
              <a:t>stone-cut-ter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2000" b="0" i="1">
                <a:solidFill>
                  <a:srgbClr val="9A9793"/>
                </a:solidFill>
                <a:latin typeface="Cormorant Garamond"/>
              </a:defRPr>
            </a:pPr>
            <a:r>
              <a:t>/stōnˌkədər/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1100" b="0" i="0">
                <a:solidFill>
                  <a:srgbClr val="6B7B8D"/>
                </a:solidFill>
                <a:latin typeface="Hanken Grotesk"/>
              </a:defRPr>
            </a:pPr>
            <a:r>
              <a:t>noun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  <a:defRPr sz="1400" b="0" i="0">
                <a:solidFill>
                  <a:srgbClr val="F4EFE6"/>
                </a:solidFill>
                <a:latin typeface="Hanken Grotesk"/>
              </a:defRPr>
            </a:pPr>
            <a:r>
              <a:t>1.  a person who cuts or shapes stone from a quarry and carves it for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6634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70000"/>
              </a:lnSpc>
              <a:spcAft>
                <a:spcPts val="0"/>
              </a:spcAft>
              <a:defRPr sz="1400" b="0" i="0">
                <a:solidFill>
                  <a:srgbClr val="F4EFE6"/>
                </a:solidFill>
                <a:latin typeface="Hanken Grotesk"/>
              </a:defRPr>
            </a:pPr>
            <a:r>
              <a:t>2.  someone that cuts, carves and dresses stone using creativity and ingenuity to carve out potential.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217920"/>
            <a:ext cx="10698480" cy="9525"/>
          </a:xfrm>
          <a:prstGeom prst="rect">
            <a:avLst/>
          </a:prstGeom>
          <a:solidFill>
            <a:srgbClr val="706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Cormorant Garamond"/>
              </a:defRPr>
            </a:pPr>
            <a:r>
              <a:t>STONECUTTER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0"/>
              </a:spcAft>
              <a:defRPr sz="900" b="0" i="0">
                <a:solidFill>
                  <a:srgbClr val="706D69"/>
                </a:solidFill>
                <a:latin typeface="Hanken Grotesk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